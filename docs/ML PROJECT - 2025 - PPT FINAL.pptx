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70" r:id="rId11"/>
    <p:sldId id="269" r:id="rId12"/>
    <p:sldId id="264" r:id="rId13"/>
    <p:sldId id="267" r:id="rId14"/>
    <p:sldId id="268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9F9F9"/>
    <a:srgbClr val="2E3192"/>
    <a:srgbClr val="002060"/>
    <a:srgbClr val="E7E6E6"/>
    <a:srgbClr val="FFD966"/>
    <a:srgbClr val="392E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44" d="100"/>
          <a:sy n="44" d="100"/>
        </p:scale>
        <p:origin x="43" y="9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E3A4D-F1BF-428C-85BA-8B0701FE6635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8E608-6D71-4F28-B1AD-BDB482407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253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5FA3-FB41-7A5B-C9F4-899144F6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89321-26BE-75D7-88AA-5582958DF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4D707-E596-FEC8-BCCA-8B41873C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61352-6D61-92B5-A363-D2705358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5D855-8F43-6166-59C0-E0A25532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44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618F-D940-20C7-B098-CD5C25CC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6235-0561-F6C3-B666-0D47EDB7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36D29-1F5D-3E60-9135-14CA071F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EC33-879A-0521-EF94-8B4DDE97E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0E50B-A6A7-4D90-669B-4F136976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2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CD51-BBA8-E061-31D3-FFAA5899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5FFA-B1CE-1674-EDCE-2F541010B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F7BC8-A0DB-89F1-FC31-D4367CAD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A1E15-FE51-9034-DE20-6C2C28B2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FE2D-6EA6-F857-C82F-E740F2F1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773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8AE2-4D97-5DFF-0472-A5A5F90B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8BB1-4BDB-9CD8-0FD2-9C7FE6F54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38942-AD37-0E88-D1FA-6C1620707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88606-181B-AB74-9B75-C3B0D9BD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EA23-1C05-8E82-DCE3-7E8E26CD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BCFD0-6CC4-1733-0E06-26FDD22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66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97A9-1937-196B-B4AF-8DC5DD39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2968E-CD00-CAFE-9BC0-D7423E78B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F678-595A-7B70-2E3F-03422FAD3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7388-8BB8-5D6A-71E2-3085894FB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4724CE-A056-8529-4448-72B754D37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49032-6009-BDBF-F70F-68E97297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DDE21-63B4-F1A5-4127-5258C1E7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4D7BC-9D7D-C3EF-AB5F-EA90FD3F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5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5553-9ECD-4235-AEAE-ED1CD61A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AA808-FE2A-AC48-6807-3FDE22E6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90482-5C65-525F-EB5E-E3EDD431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61F17-AA4E-B075-0C3E-61C55A90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06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F87CE-5D8C-B91D-77B6-2AD87AFA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36FBE-AB43-CCF1-0480-4809AC14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FFFC6-16BF-95C2-4ACF-824F1A8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02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DE4B-7C41-F61A-9C5E-7FB1D3BA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F8DC4-2174-73B4-ED5D-2BE130CD0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7CDD7-715C-7202-A274-01E74BEC7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F6287-A0C4-8DF3-AABB-16DD1B8F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167C6-A742-CCCD-E64E-AF0B040EE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D087B-7B04-B7DC-DA29-A81F305B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3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C2CF-C0C1-6903-80C7-D26AD001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5DE5CC-E959-B078-F3A8-26F79DE50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A3CB7-1433-B098-189D-2540D0700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048-970D-E784-4D5B-D78EC554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8061E-8BDA-C359-15A6-99579DE12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7562B-DBA8-8286-F902-0AC72F26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91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BB76-C1E1-657A-A6FF-8763707D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325C9-0EE0-481E-C465-905FD6C39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18E2-986B-CADB-F447-09267748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35BB-4142-AD9E-BC03-2A468BB20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6F9ED-388D-F8DC-E473-A3A92180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0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4C01A-510F-794B-1F77-BE32C063B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35824-3B05-9C8D-CCA0-15E091B6B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71218-72F4-20FE-4219-8445B446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C5733-8160-DD94-FEF5-005C22A3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7CB5-704B-FBA8-C5CC-BA7DBBDF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88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B00B2-4F37-F0AE-4A5D-375F9842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9243A-86C5-9E5F-D0BA-4029B0EA7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680C4-2781-9ED1-8FF9-37FDB2EA2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0821A-2D3D-4EC2-B0E7-F424B11BA970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F37B2-9D24-102C-CA4B-F565255BE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5E851-5318-E329-4330-5BB0D6EAD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D7D4E-3CD0-4F45-8628-9F9365A30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84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215000-7B41-2C87-B2C3-DDE9376228AD}"/>
              </a:ext>
            </a:extLst>
          </p:cNvPr>
          <p:cNvSpPr/>
          <p:nvPr/>
        </p:nvSpPr>
        <p:spPr>
          <a:xfrm>
            <a:off x="828675" y="809626"/>
            <a:ext cx="5245897" cy="5257800"/>
          </a:xfrm>
          <a:prstGeom prst="rect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CF9E6E-2973-E687-6567-FC3697C43A21}"/>
              </a:ext>
            </a:extLst>
          </p:cNvPr>
          <p:cNvSpPr txBox="1"/>
          <p:nvPr/>
        </p:nvSpPr>
        <p:spPr>
          <a:xfrm>
            <a:off x="6333414" y="2729122"/>
            <a:ext cx="5849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2E3192"/>
                </a:solidFill>
              </a:rPr>
              <a:t>Drug-Likeness Prediction Using Artificial Neural Network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C88375-61AB-6CAB-F942-DCA172232955}"/>
              </a:ext>
            </a:extLst>
          </p:cNvPr>
          <p:cNvSpPr/>
          <p:nvPr/>
        </p:nvSpPr>
        <p:spPr>
          <a:xfrm>
            <a:off x="0" y="-388"/>
            <a:ext cx="3810000" cy="29527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FB21F-7096-0E01-A3FA-15AD7182F9A1}"/>
              </a:ext>
            </a:extLst>
          </p:cNvPr>
          <p:cNvSpPr/>
          <p:nvPr/>
        </p:nvSpPr>
        <p:spPr>
          <a:xfrm>
            <a:off x="8382000" y="6564553"/>
            <a:ext cx="3810000" cy="295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947F99-2AA6-4E91-983C-C1943969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337" y="1069984"/>
            <a:ext cx="4210050" cy="1295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8D9576-DC28-4104-BACB-24B1A278C16A}"/>
              </a:ext>
            </a:extLst>
          </p:cNvPr>
          <p:cNvSpPr txBox="1"/>
          <p:nvPr/>
        </p:nvSpPr>
        <p:spPr>
          <a:xfrm>
            <a:off x="7634748" y="4811218"/>
            <a:ext cx="4210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E3192"/>
                </a:solidFill>
              </a:rPr>
              <a:t>Name of the Student: ARJUN V</a:t>
            </a:r>
          </a:p>
          <a:p>
            <a:r>
              <a:rPr lang="en-US" sz="2400" b="1" dirty="0">
                <a:solidFill>
                  <a:srgbClr val="2E3192"/>
                </a:solidFill>
              </a:rPr>
              <a:t>Register Number: 221BCADA36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3A420B-E21F-4D67-9493-6897C6D3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17" y="1095835"/>
            <a:ext cx="5352152" cy="466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5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rapezium 1">
            <a:extLst>
              <a:ext uri="{FF2B5EF4-FFF2-40B4-BE49-F238E27FC236}">
                <a16:creationId xmlns:a16="http://schemas.microsoft.com/office/drawing/2014/main" id="{C80821FA-60C1-2DEB-5A4D-943D09F07DB6}"/>
              </a:ext>
            </a:extLst>
          </p:cNvPr>
          <p:cNvSpPr/>
          <p:nvPr/>
        </p:nvSpPr>
        <p:spPr>
          <a:xfrm>
            <a:off x="664901" y="5183333"/>
            <a:ext cx="4553145" cy="1768100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534241"/>
              <a:gd name="connsiteY0" fmla="*/ 1335056 h 1335056"/>
              <a:gd name="connsiteX1" fmla="*/ 0 w 3534241"/>
              <a:gd name="connsiteY1" fmla="*/ 51931 h 1335056"/>
              <a:gd name="connsiteX2" fmla="*/ 2593322 w 3534241"/>
              <a:gd name="connsiteY2" fmla="*/ 0 h 1335056"/>
              <a:gd name="connsiteX3" fmla="*/ 3534241 w 3534241"/>
              <a:gd name="connsiteY3" fmla="*/ 1286586 h 1335056"/>
              <a:gd name="connsiteX4" fmla="*/ 6800 w 3534241"/>
              <a:gd name="connsiteY4" fmla="*/ 1335056 h 1335056"/>
              <a:gd name="connsiteX0" fmla="*/ 6800 w 3534241"/>
              <a:gd name="connsiteY0" fmla="*/ 1323647 h 1323647"/>
              <a:gd name="connsiteX1" fmla="*/ 0 w 3534241"/>
              <a:gd name="connsiteY1" fmla="*/ 40522 h 1323647"/>
              <a:gd name="connsiteX2" fmla="*/ 2563748 w 3534241"/>
              <a:gd name="connsiteY2" fmla="*/ 0 h 1323647"/>
              <a:gd name="connsiteX3" fmla="*/ 3534241 w 3534241"/>
              <a:gd name="connsiteY3" fmla="*/ 1275177 h 1323647"/>
              <a:gd name="connsiteX4" fmla="*/ 6800 w 3534241"/>
              <a:gd name="connsiteY4" fmla="*/ 1323647 h 132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4241" h="1323647">
                <a:moveTo>
                  <a:pt x="6800" y="1323647"/>
                </a:moveTo>
                <a:cubicBezTo>
                  <a:pt x="4533" y="895939"/>
                  <a:pt x="2267" y="468230"/>
                  <a:pt x="0" y="40522"/>
                </a:cubicBezTo>
                <a:lnTo>
                  <a:pt x="2563748" y="0"/>
                </a:lnTo>
                <a:lnTo>
                  <a:pt x="3534241" y="1275177"/>
                </a:lnTo>
                <a:lnTo>
                  <a:pt x="6800" y="1323647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2994049" y="1242005"/>
            <a:ext cx="3101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Arial Black" panose="020B0A04020102020204" pitchFamily="34" charset="0"/>
              </a:rPr>
              <a:t>Contents</a:t>
            </a:r>
            <a:endParaRPr lang="en-IN" sz="4000" dirty="0">
              <a:solidFill>
                <a:srgbClr val="FFC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801990" cy="2885302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539158" y="800199"/>
            <a:ext cx="801990" cy="2885302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rapezium 1">
            <a:extLst>
              <a:ext uri="{FF2B5EF4-FFF2-40B4-BE49-F238E27FC236}">
                <a16:creationId xmlns:a16="http://schemas.microsoft.com/office/drawing/2014/main" id="{C136A6E0-BCB6-1B30-D843-E2FFDDA37841}"/>
              </a:ext>
            </a:extLst>
          </p:cNvPr>
          <p:cNvSpPr/>
          <p:nvPr/>
        </p:nvSpPr>
        <p:spPr>
          <a:xfrm>
            <a:off x="-22729" y="4868241"/>
            <a:ext cx="4798243" cy="2069887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603550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1872 h 1301872"/>
              <a:gd name="connsiteX1" fmla="*/ 0 w 3907422"/>
              <a:gd name="connsiteY1" fmla="*/ 18747 h 1301872"/>
              <a:gd name="connsiteX2" fmla="*/ 2537695 w 3907422"/>
              <a:gd name="connsiteY2" fmla="*/ 0 h 1301872"/>
              <a:gd name="connsiteX3" fmla="*/ 3907422 w 3907422"/>
              <a:gd name="connsiteY3" fmla="*/ 1278353 h 1301872"/>
              <a:gd name="connsiteX4" fmla="*/ 6800 w 3907422"/>
              <a:gd name="connsiteY4" fmla="*/ 1301872 h 1301872"/>
              <a:gd name="connsiteX0" fmla="*/ 6800 w 3907422"/>
              <a:gd name="connsiteY0" fmla="*/ 1307544 h 1307544"/>
              <a:gd name="connsiteX1" fmla="*/ 0 w 3907422"/>
              <a:gd name="connsiteY1" fmla="*/ 24419 h 1307544"/>
              <a:gd name="connsiteX2" fmla="*/ 2640136 w 3907422"/>
              <a:gd name="connsiteY2" fmla="*/ 0 h 1307544"/>
              <a:gd name="connsiteX3" fmla="*/ 3907422 w 3907422"/>
              <a:gd name="connsiteY3" fmla="*/ 1284025 h 1307544"/>
              <a:gd name="connsiteX4" fmla="*/ 6800 w 3907422"/>
              <a:gd name="connsiteY4" fmla="*/ 1307544 h 1307544"/>
              <a:gd name="connsiteX0" fmla="*/ 6800 w 3724490"/>
              <a:gd name="connsiteY0" fmla="*/ 1307544 h 1307544"/>
              <a:gd name="connsiteX1" fmla="*/ 0 w 3724490"/>
              <a:gd name="connsiteY1" fmla="*/ 24419 h 1307544"/>
              <a:gd name="connsiteX2" fmla="*/ 2640136 w 3724490"/>
              <a:gd name="connsiteY2" fmla="*/ 0 h 1307544"/>
              <a:gd name="connsiteX3" fmla="*/ 3724490 w 3724490"/>
              <a:gd name="connsiteY3" fmla="*/ 1272679 h 1307544"/>
              <a:gd name="connsiteX4" fmla="*/ 6800 w 3724490"/>
              <a:gd name="connsiteY4" fmla="*/ 1307544 h 1307544"/>
              <a:gd name="connsiteX0" fmla="*/ 6800 w 3724490"/>
              <a:gd name="connsiteY0" fmla="*/ 1335056 h 1335056"/>
              <a:gd name="connsiteX1" fmla="*/ 0 w 3724490"/>
              <a:gd name="connsiteY1" fmla="*/ 51931 h 1335056"/>
              <a:gd name="connsiteX2" fmla="*/ 2593322 w 3724490"/>
              <a:gd name="connsiteY2" fmla="*/ 0 h 1335056"/>
              <a:gd name="connsiteX3" fmla="*/ 3724490 w 3724490"/>
              <a:gd name="connsiteY3" fmla="*/ 1300191 h 1335056"/>
              <a:gd name="connsiteX4" fmla="*/ 6800 w 3724490"/>
              <a:gd name="connsiteY4" fmla="*/ 1335056 h 1335056"/>
              <a:gd name="connsiteX0" fmla="*/ 6800 w 3724490"/>
              <a:gd name="connsiteY0" fmla="*/ 1292241 h 1292241"/>
              <a:gd name="connsiteX1" fmla="*/ 0 w 3724490"/>
              <a:gd name="connsiteY1" fmla="*/ 9116 h 1292241"/>
              <a:gd name="connsiteX2" fmla="*/ 2605152 w 3724490"/>
              <a:gd name="connsiteY2" fmla="*/ 0 h 1292241"/>
              <a:gd name="connsiteX3" fmla="*/ 3724490 w 3724490"/>
              <a:gd name="connsiteY3" fmla="*/ 1257376 h 1292241"/>
              <a:gd name="connsiteX4" fmla="*/ 6800 w 3724490"/>
              <a:gd name="connsiteY4" fmla="*/ 1292241 h 129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4490" h="1292241">
                <a:moveTo>
                  <a:pt x="6800" y="1292241"/>
                </a:moveTo>
                <a:cubicBezTo>
                  <a:pt x="4533" y="864533"/>
                  <a:pt x="2267" y="436824"/>
                  <a:pt x="0" y="9116"/>
                </a:cubicBezTo>
                <a:lnTo>
                  <a:pt x="2605152" y="0"/>
                </a:lnTo>
                <a:lnTo>
                  <a:pt x="3724490" y="1257376"/>
                </a:lnTo>
                <a:lnTo>
                  <a:pt x="6800" y="1292241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12904" y="1121790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68723" y="1102936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606C58-F416-0D99-F990-E24911DCAC5F}"/>
              </a:ext>
            </a:extLst>
          </p:cNvPr>
          <p:cNvSpPr txBox="1"/>
          <p:nvPr/>
        </p:nvSpPr>
        <p:spPr>
          <a:xfrm>
            <a:off x="2994049" y="1983234"/>
            <a:ext cx="66778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Abstract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Literature Survey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Problem Definition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Proposed Work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Methodology &amp; Implementation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Results &amp; Discussions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E3192"/>
                </a:solidFill>
              </a:rPr>
              <a:t>Reference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FFD54B-3807-42FA-8B84-805841ED5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1" y="199366"/>
            <a:ext cx="1219904" cy="114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6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7" y="1242005"/>
            <a:ext cx="29784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Abstract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243306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1CB8153-83B4-4D38-9B7E-81BB124F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16" name="Rectangle 5">
            <a:extLst>
              <a:ext uri="{FF2B5EF4-FFF2-40B4-BE49-F238E27FC236}">
                <a16:creationId xmlns:a16="http://schemas.microsoft.com/office/drawing/2014/main" id="{F826A085-C0FE-9B36-4600-026B6F5BB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78" y="2060678"/>
            <a:ext cx="999242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This project presents a web-based application for predicting the drug-likeness of molecules based on SMILES (Simplified Molecular Input Line Entry System) strings using a fine-tuned BERT model (</a:t>
            </a:r>
            <a:r>
              <a:rPr lang="en-US" altLang="en-US" sz="2800" dirty="0" err="1"/>
              <a:t>bert</a:t>
            </a:r>
            <a:r>
              <a:rPr lang="en-US" altLang="en-US" sz="2800" dirty="0"/>
              <a:t>-base-uncased). The tool classifies molecules as drug-like or non-drug-like and also provides a probability score, 2D structure visualization, and a 3D molecular viewer using Py3Dmol. The application enables researchers and students to quickly assess molecules without needing expert cheminformatics knowledge</a:t>
            </a:r>
            <a:r>
              <a:rPr lang="en-US" altLang="en-US" sz="2400" dirty="0"/>
              <a:t>. 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20241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6" y="1242005"/>
            <a:ext cx="3696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Introduction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34705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44EB4-A3B9-4C17-92A8-1199FAA5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6E2F8-9A2A-0A14-7BEE-F4D6153ED13D}"/>
              </a:ext>
            </a:extLst>
          </p:cNvPr>
          <p:cNvSpPr txBox="1"/>
          <p:nvPr/>
        </p:nvSpPr>
        <p:spPr>
          <a:xfrm>
            <a:off x="980378" y="2382269"/>
            <a:ext cx="10108794" cy="270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Drug discovery is a long, expensive process. Machine learning, especially neural networks, provides a powerful way to predict drug-likeness based on compound properties. This project uses molecular descriptors to train a model that predicts whether a compound is likely to be a drug. This work bridges chemistry and AI, contributing to faster and cost-effective drug screening.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4929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6" y="1242005"/>
            <a:ext cx="5049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Literature Survey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48981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91CD873-38E2-4BB0-AD7A-A5A66C23F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44508-D8AD-9D08-96B1-E077F8B303BE}"/>
              </a:ext>
            </a:extLst>
          </p:cNvPr>
          <p:cNvSpPr txBox="1"/>
          <p:nvPr/>
        </p:nvSpPr>
        <p:spPr>
          <a:xfrm>
            <a:off x="980378" y="2327567"/>
            <a:ext cx="9495185" cy="4455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studies have used ML algorithms for predicting molecular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Techniques like Random Forests, SVM, and Gradient Boosting have shown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learning, especially ANNs and Graph Neural Networks, is proving more powerful for chemical structure-based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QED (Quantitative Estimate of Drug-likeness)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standard metrics used in many published works.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4954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822D1-EE1C-828C-8387-0DC2C1E0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0A40DD6E-34FC-3467-89DB-82B4FDD52486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2FE39AC6-BC19-81D9-2168-94A461B56304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43F9584E-8AE8-58B5-7D56-FA3E0155F825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2617B0-3FC3-1855-CCFE-8507F67FF967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396253-9F81-FE55-6AB7-D3F9FA525C36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8D4A79E-6BB4-97BD-E0EF-C25BCA9B7E5D}"/>
              </a:ext>
            </a:extLst>
          </p:cNvPr>
          <p:cNvSpPr txBox="1"/>
          <p:nvPr/>
        </p:nvSpPr>
        <p:spPr>
          <a:xfrm>
            <a:off x="875116" y="1242005"/>
            <a:ext cx="5049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Literature Survey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4B260D-EA4C-75C3-87DF-EF80D6F8D4BD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48981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D447A0F-0E07-486E-E01F-12769C78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4173B-1677-9E7F-C535-651E6641F193}"/>
              </a:ext>
            </a:extLst>
          </p:cNvPr>
          <p:cNvSpPr txBox="1"/>
          <p:nvPr/>
        </p:nvSpPr>
        <p:spPr>
          <a:xfrm>
            <a:off x="980378" y="2327567"/>
            <a:ext cx="9495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606299-9E3E-A0FC-3BCC-05E34A1D8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352491"/>
              </p:ext>
            </p:extLst>
          </p:nvPr>
        </p:nvGraphicFramePr>
        <p:xfrm>
          <a:off x="1415348" y="2036659"/>
          <a:ext cx="9207826" cy="419381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55894">
                  <a:extLst>
                    <a:ext uri="{9D8B030D-6E8A-4147-A177-3AD203B41FA5}">
                      <a16:colId xmlns:a16="http://schemas.microsoft.com/office/drawing/2014/main" val="3714762887"/>
                    </a:ext>
                  </a:extLst>
                </a:gridCol>
                <a:gridCol w="2142472">
                  <a:extLst>
                    <a:ext uri="{9D8B030D-6E8A-4147-A177-3AD203B41FA5}">
                      <a16:colId xmlns:a16="http://schemas.microsoft.com/office/drawing/2014/main" val="3150669158"/>
                    </a:ext>
                  </a:extLst>
                </a:gridCol>
                <a:gridCol w="2075519">
                  <a:extLst>
                    <a:ext uri="{9D8B030D-6E8A-4147-A177-3AD203B41FA5}">
                      <a16:colId xmlns:a16="http://schemas.microsoft.com/office/drawing/2014/main" val="3543556907"/>
                    </a:ext>
                  </a:extLst>
                </a:gridCol>
                <a:gridCol w="698216">
                  <a:extLst>
                    <a:ext uri="{9D8B030D-6E8A-4147-A177-3AD203B41FA5}">
                      <a16:colId xmlns:a16="http://schemas.microsoft.com/office/drawing/2014/main" val="693112883"/>
                    </a:ext>
                  </a:extLst>
                </a:gridCol>
                <a:gridCol w="3735725">
                  <a:extLst>
                    <a:ext uri="{9D8B030D-6E8A-4147-A177-3AD203B41FA5}">
                      <a16:colId xmlns:a16="http://schemas.microsoft.com/office/drawing/2014/main" val="1276468375"/>
                    </a:ext>
                  </a:extLst>
                </a:gridCol>
              </a:tblGrid>
              <a:tr h="229349">
                <a:tc>
                  <a:txBody>
                    <a:bodyPr/>
                    <a:lstStyle/>
                    <a:p>
                      <a:pPr algn="ctr"/>
                      <a:r>
                        <a:rPr lang="en-IN" sz="1050" b="1"/>
                        <a:t>S.No</a:t>
                      </a:r>
                      <a:endParaRPr lang="en-IN" sz="105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/>
                        <a:t>Title / Tool</a:t>
                      </a:r>
                      <a:endParaRPr lang="en-IN" sz="105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/>
                        <a:t>Author(s)</a:t>
                      </a:r>
                      <a:endParaRPr lang="en-IN" sz="105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/>
                        <a:t>Year</a:t>
                      </a:r>
                      <a:endParaRPr lang="en-IN" sz="105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/>
                        <a:t>Conclusion / Findings</a:t>
                      </a:r>
                      <a:endParaRPr lang="en-IN" sz="105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73966732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1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Rule of Five (Ro5)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Christopher A. Lipinski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1997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Proposed rules for drug-likeness based on molecular properties (e.g., MW &lt; 500, logP &lt; 5).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413298018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DeepChem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Bharath Ramsundar et al.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2017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Provides tools for deep learning in drug discovery, supports SMILES and molecular graphs.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943324118"/>
                  </a:ext>
                </a:extLst>
              </a:tr>
              <a:tr h="524226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3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 err="1"/>
                        <a:t>ChemBERTa</a:t>
                      </a:r>
                      <a:r>
                        <a:rPr lang="en-IN" sz="1050" dirty="0"/>
                        <a:t>: Transformer-based Model for Molecules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Morgan et al. (Facebook AI)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2021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Applied BERT-style models on SMILES, significantly improving QSAR and drug-likeness tasks.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32921113"/>
                  </a:ext>
                </a:extLst>
              </a:tr>
              <a:tr h="622519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4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SMILES Transformer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Honda et al.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2019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Used transformer encoder-decoder model to learn chemical representations from SMILES.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211495038"/>
                  </a:ext>
                </a:extLst>
              </a:tr>
              <a:tr h="524226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5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DrugEx: Reinforcement Learning for Drug Discovery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Liu et al.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2019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Combines SMILES-based representations with RL to generate drug-like molecules.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405286935"/>
                  </a:ext>
                </a:extLst>
              </a:tr>
              <a:tr h="524226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6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RDKit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Greg Landrum (Open Source Toolkit)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Ongoing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Enables 2D/3D visualization, molecular analysis, and descriptor calculation.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985442214"/>
                  </a:ext>
                </a:extLst>
              </a:tr>
              <a:tr h="524226"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7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BERT: Pre-training of Deep Bidirectional Transformers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Jacob Devlin et al. (Google AI)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/>
                        <a:t>2018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Introduced the foundational BERT model used for SMILES tokenization in our project.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997521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95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6" y="1242005"/>
            <a:ext cx="5595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Problem Definition 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514380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3029950-51CA-427B-8B21-03DA6D81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15AE7-F5D1-37C5-8683-25CAA3CF3A97}"/>
              </a:ext>
            </a:extLst>
          </p:cNvPr>
          <p:cNvSpPr txBox="1"/>
          <p:nvPr/>
        </p:nvSpPr>
        <p:spPr>
          <a:xfrm>
            <a:off x="1246918" y="2382268"/>
            <a:ext cx="95430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Manual screening of compounds is time-consuming and often inaccurate.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Lack of lightweight web tools using modern NLP transformers.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Problem: Predict drug-likeness of a compound using SMILES and visualize it interactively.</a:t>
            </a:r>
          </a:p>
        </p:txBody>
      </p:sp>
    </p:spTree>
    <p:extLst>
      <p:ext uri="{BB962C8B-B14F-4D97-AF65-F5344CB8AC3E}">
        <p14:creationId xmlns:p14="http://schemas.microsoft.com/office/powerpoint/2010/main" val="189040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6" y="1242005"/>
            <a:ext cx="5595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Proposed Work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4207635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81AC225-19F1-48E7-A998-6F3677E1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DB74847-A987-1CD2-3F76-D7FE7AE7E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04" y="2060677"/>
            <a:ext cx="9853874" cy="366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12943D3-DC65-D1A7-384C-19324DC05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78" y="1872645"/>
            <a:ext cx="96032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project proposes a deep learning model for predicting drug-likeness using SMILES representations of molecules.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Instead of using a transformer-based architecture like BERT, a custom hybrid model was designed.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The model combines: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1D Convolutional Layer: For local feature extraction from SMILES embeddings.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Bidirectional LSTM: To capture contextual information from both past and future sequences.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LSTM Layer: For sequential learning of molecular structure.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Dense Layers: For final binary classification.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This architecture allows the model to efficiently learn structural patterns in chemical compounds.</a:t>
            </a:r>
          </a:p>
        </p:txBody>
      </p:sp>
    </p:spTree>
    <p:extLst>
      <p:ext uri="{BB962C8B-B14F-4D97-AF65-F5344CB8AC3E}">
        <p14:creationId xmlns:p14="http://schemas.microsoft.com/office/powerpoint/2010/main" val="351259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6" y="1242005"/>
            <a:ext cx="55954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Methodology &amp; Implementation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2533399"/>
            <a:ext cx="43849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0B022EE-7232-4592-875D-DE65FD59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9C651800-5B5B-09E6-C283-AF455B66A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25" y="2568499"/>
            <a:ext cx="1135929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Data: 250K SMILES from ZINC database.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Preprocessing: Tokenization of SMILES, label assignment.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Model: </a:t>
            </a:r>
            <a:r>
              <a:rPr lang="en-US" sz="2800" b="1" dirty="0"/>
              <a:t>hybrid of CNN + </a:t>
            </a:r>
            <a:r>
              <a:rPr lang="en-US" sz="2800" b="1" dirty="0" err="1"/>
              <a:t>BiLSTM</a:t>
            </a:r>
            <a:r>
              <a:rPr lang="en-US" sz="2800" b="1"/>
              <a:t> + LSTM</a:t>
            </a:r>
            <a:endParaRPr lang="en-US" alt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Deployment: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Frontend: HTML + JS.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Backend: Flask with Python.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2D structures: </a:t>
            </a:r>
            <a:r>
              <a:rPr lang="en-US" altLang="en-US" sz="2800" dirty="0" err="1"/>
              <a:t>RDKit</a:t>
            </a:r>
            <a:r>
              <a:rPr lang="en-US" altLang="en-US" sz="28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3D viewer: Py3Dmol + MOL block conversion.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54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F1CF0-8FC8-658D-D8FC-B70BCF86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2F87BD03-F61A-BEE6-4462-39FF9D0A6F23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438DC650-1E51-EF17-7A11-E6B2B7270004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492D4645-8F4A-150E-A052-C7938B0ACD97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82D12E-2BCB-EE0E-A200-69B60578FFB1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8DA4E4-856D-650A-550B-3663364EC08A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BCE254-947E-3590-5099-BD94C8C9D234}"/>
              </a:ext>
            </a:extLst>
          </p:cNvPr>
          <p:cNvSpPr txBox="1"/>
          <p:nvPr/>
        </p:nvSpPr>
        <p:spPr>
          <a:xfrm>
            <a:off x="875116" y="1242005"/>
            <a:ext cx="55954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Methodology &amp; Implementation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9BA680-D911-5392-D59C-A8456EF73C74}"/>
              </a:ext>
            </a:extLst>
          </p:cNvPr>
          <p:cNvCxnSpPr>
            <a:cxnSpLocks/>
          </p:cNvCxnSpPr>
          <p:nvPr/>
        </p:nvCxnSpPr>
        <p:spPr>
          <a:xfrm>
            <a:off x="952194" y="2533399"/>
            <a:ext cx="43849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02C2BB0-E25E-F2B7-60F7-8EE614BC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14A85F-5360-9F27-5470-B19110203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652" y="2501355"/>
            <a:ext cx="6372858" cy="42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82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30EE7-9097-4571-FF75-B6746FD5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6297F403-AE93-2E86-F2E4-6DDBA8B5EC66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AFE42E21-3C5A-23D2-F2CB-ABD59B0EFAA2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5C1D1436-5224-5A2D-FA55-B07C48B8F79F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FA4ADB-C832-84C8-C860-EEFCE476BAD7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77C4B0-745F-CB04-BEFE-B926D3F274D1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4B15A3-931C-F2B3-69B2-118C552B0DC2}"/>
              </a:ext>
            </a:extLst>
          </p:cNvPr>
          <p:cNvSpPr txBox="1"/>
          <p:nvPr/>
        </p:nvSpPr>
        <p:spPr>
          <a:xfrm>
            <a:off x="875116" y="1242005"/>
            <a:ext cx="55954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Methodology &amp; Implementation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7C6B0F-C38E-0E0D-848F-1319D72F4EDC}"/>
              </a:ext>
            </a:extLst>
          </p:cNvPr>
          <p:cNvCxnSpPr>
            <a:cxnSpLocks/>
          </p:cNvCxnSpPr>
          <p:nvPr/>
        </p:nvCxnSpPr>
        <p:spPr>
          <a:xfrm>
            <a:off x="952194" y="2533399"/>
            <a:ext cx="43849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B12B4DD-8E3B-8EAF-2627-1F01A442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5EA825-5C1A-F6B2-E262-89A313365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25" y="2676231"/>
            <a:ext cx="6699202" cy="37683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40699F-CBEE-8521-6602-1A0F03E08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580" y="2676230"/>
            <a:ext cx="3349601" cy="376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8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7" y="1242005"/>
            <a:ext cx="35755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Results &amp; Discussions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2477422"/>
            <a:ext cx="3367879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B4A6CFC-8810-4256-A5E2-AAC8DAB24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E806F92-D46D-DB83-AE24-423973F61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91" y="2790680"/>
            <a:ext cx="976149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Model achieved an accuracy of ~85% and ROC-AUC of ~0.89.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Observations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logP</a:t>
            </a:r>
            <a:r>
              <a:rPr lang="en-US" altLang="en-US" sz="2800" dirty="0">
                <a:latin typeface="Arial" panose="020B0604020202020204" pitchFamily="34" charset="0"/>
              </a:rPr>
              <a:t> and SAS were more discriminative than QED alone.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Outliers in </a:t>
            </a:r>
            <a:r>
              <a:rPr lang="en-US" altLang="en-US" sz="2800" dirty="0" err="1">
                <a:latin typeface="Arial" panose="020B0604020202020204" pitchFamily="34" charset="0"/>
              </a:rPr>
              <a:t>logP</a:t>
            </a:r>
            <a:r>
              <a:rPr lang="en-US" altLang="en-US" sz="2800" dirty="0">
                <a:latin typeface="Arial" panose="020B0604020202020204" pitchFamily="34" charset="0"/>
              </a:rPr>
              <a:t> had minimal effect post-normalization.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8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7" y="1242005"/>
            <a:ext cx="3308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Conclusion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3067715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3701C3B-CDA0-4579-85EF-F7886C716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105246"/>
            <a:ext cx="1219904" cy="11464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CB8353-4831-5603-0570-9C0A6DBB8915}"/>
              </a:ext>
            </a:extLst>
          </p:cNvPr>
          <p:cNvSpPr txBox="1"/>
          <p:nvPr/>
        </p:nvSpPr>
        <p:spPr>
          <a:xfrm>
            <a:off x="927749" y="2052018"/>
            <a:ext cx="1033650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Developed an end-to-end solution for drug-likeness prediction.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Integrated visualization components enhance user interactivity.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Accessible through web interface—no installations needed.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Future work: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Add support for multi-class properties (toxicity, permeability).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Improve accuracy using domain-specific embeddings (e.g., </a:t>
            </a:r>
            <a:r>
              <a:rPr lang="en-US" altLang="en-US" sz="2800" dirty="0" err="1">
                <a:latin typeface="Arial" panose="020B0604020202020204" pitchFamily="34" charset="0"/>
              </a:rPr>
              <a:t>ChemBERTa</a:t>
            </a:r>
            <a:r>
              <a:rPr lang="en-US" altLang="en-US" sz="2800" dirty="0">
                <a:latin typeface="Arial" panose="020B0604020202020204" pitchFamily="34" charset="0"/>
              </a:rPr>
              <a:t>).</a:t>
            </a:r>
          </a:p>
          <a:p>
            <a:pPr marR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Optimize inference time and UI enhancements.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85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ium 1">
            <a:extLst>
              <a:ext uri="{FF2B5EF4-FFF2-40B4-BE49-F238E27FC236}">
                <a16:creationId xmlns:a16="http://schemas.microsoft.com/office/drawing/2014/main" id="{B6697138-B1EB-F246-6B2A-DD6A7A36BFBC}"/>
              </a:ext>
            </a:extLst>
          </p:cNvPr>
          <p:cNvSpPr/>
          <p:nvPr/>
        </p:nvSpPr>
        <p:spPr>
          <a:xfrm>
            <a:off x="-41208" y="1"/>
            <a:ext cx="3054112" cy="809626"/>
          </a:xfrm>
          <a:custGeom>
            <a:avLst/>
            <a:gdLst>
              <a:gd name="connsiteX0" fmla="*/ 0 w 3695307"/>
              <a:gd name="connsiteY0" fmla="*/ 1330259 h 1330259"/>
              <a:gd name="connsiteX1" fmla="*/ 332565 w 3695307"/>
              <a:gd name="connsiteY1" fmla="*/ 0 h 1330259"/>
              <a:gd name="connsiteX2" fmla="*/ 3362742 w 3695307"/>
              <a:gd name="connsiteY2" fmla="*/ 0 h 1330259"/>
              <a:gd name="connsiteX3" fmla="*/ 3695307 w 3695307"/>
              <a:gd name="connsiteY3" fmla="*/ 1330259 h 1330259"/>
              <a:gd name="connsiteX4" fmla="*/ 0 w 3695307"/>
              <a:gd name="connsiteY4" fmla="*/ 1330259 h 1330259"/>
              <a:gd name="connsiteX0" fmla="*/ 6800 w 3702107"/>
              <a:gd name="connsiteY0" fmla="*/ 1330259 h 1330259"/>
              <a:gd name="connsiteX1" fmla="*/ 0 w 3702107"/>
              <a:gd name="connsiteY1" fmla="*/ 47134 h 1330259"/>
              <a:gd name="connsiteX2" fmla="*/ 3369542 w 3702107"/>
              <a:gd name="connsiteY2" fmla="*/ 0 h 1330259"/>
              <a:gd name="connsiteX3" fmla="*/ 3702107 w 3702107"/>
              <a:gd name="connsiteY3" fmla="*/ 1330259 h 1330259"/>
              <a:gd name="connsiteX4" fmla="*/ 6800 w 3702107"/>
              <a:gd name="connsiteY4" fmla="*/ 1330259 h 1330259"/>
              <a:gd name="connsiteX0" fmla="*/ 6800 w 3702107"/>
              <a:gd name="connsiteY0" fmla="*/ 1283125 h 1283125"/>
              <a:gd name="connsiteX1" fmla="*/ 0 w 3702107"/>
              <a:gd name="connsiteY1" fmla="*/ 0 h 1283125"/>
              <a:gd name="connsiteX2" fmla="*/ 3322408 w 3702107"/>
              <a:gd name="connsiteY2" fmla="*/ 28280 h 1283125"/>
              <a:gd name="connsiteX3" fmla="*/ 3702107 w 3702107"/>
              <a:gd name="connsiteY3" fmla="*/ 1283125 h 1283125"/>
              <a:gd name="connsiteX4" fmla="*/ 6800 w 3702107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322408 w 4305423"/>
              <a:gd name="connsiteY2" fmla="*/ 28280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59607 h 1283125"/>
              <a:gd name="connsiteX4" fmla="*/ 6800 w 4305423"/>
              <a:gd name="connsiteY4" fmla="*/ 1283125 h 1283125"/>
              <a:gd name="connsiteX0" fmla="*/ 6800 w 4305423"/>
              <a:gd name="connsiteY0" fmla="*/ 1283125 h 1283125"/>
              <a:gd name="connsiteX1" fmla="*/ 0 w 4305423"/>
              <a:gd name="connsiteY1" fmla="*/ 0 h 1283125"/>
              <a:gd name="connsiteX2" fmla="*/ 3262105 w 4305423"/>
              <a:gd name="connsiteY2" fmla="*/ 4761 h 1283125"/>
              <a:gd name="connsiteX3" fmla="*/ 4305423 w 4305423"/>
              <a:gd name="connsiteY3" fmla="*/ 1224329 h 1283125"/>
              <a:gd name="connsiteX4" fmla="*/ 6800 w 4305423"/>
              <a:gd name="connsiteY4" fmla="*/ 1283125 h 1283125"/>
              <a:gd name="connsiteX0" fmla="*/ 6800 w 4341604"/>
              <a:gd name="connsiteY0" fmla="*/ 1283125 h 1283125"/>
              <a:gd name="connsiteX1" fmla="*/ 0 w 4341604"/>
              <a:gd name="connsiteY1" fmla="*/ 0 h 1283125"/>
              <a:gd name="connsiteX2" fmla="*/ 3262105 w 4341604"/>
              <a:gd name="connsiteY2" fmla="*/ 4761 h 1283125"/>
              <a:gd name="connsiteX3" fmla="*/ 4341604 w 4341604"/>
              <a:gd name="connsiteY3" fmla="*/ 1259606 h 1283125"/>
              <a:gd name="connsiteX4" fmla="*/ 6800 w 4341604"/>
              <a:gd name="connsiteY4" fmla="*/ 1283125 h 1283125"/>
              <a:gd name="connsiteX0" fmla="*/ 6800 w 3895361"/>
              <a:gd name="connsiteY0" fmla="*/ 1283125 h 1283125"/>
              <a:gd name="connsiteX1" fmla="*/ 0 w 3895361"/>
              <a:gd name="connsiteY1" fmla="*/ 0 h 1283125"/>
              <a:gd name="connsiteX2" fmla="*/ 3262105 w 3895361"/>
              <a:gd name="connsiteY2" fmla="*/ 4761 h 1283125"/>
              <a:gd name="connsiteX3" fmla="*/ 3895361 w 3895361"/>
              <a:gd name="connsiteY3" fmla="*/ 1229726 h 1283125"/>
              <a:gd name="connsiteX4" fmla="*/ 6800 w 3895361"/>
              <a:gd name="connsiteY4" fmla="*/ 1283125 h 1283125"/>
              <a:gd name="connsiteX0" fmla="*/ 6800 w 3907422"/>
              <a:gd name="connsiteY0" fmla="*/ 1283125 h 1283125"/>
              <a:gd name="connsiteX1" fmla="*/ 0 w 3907422"/>
              <a:gd name="connsiteY1" fmla="*/ 0 h 1283125"/>
              <a:gd name="connsiteX2" fmla="*/ 3262105 w 3907422"/>
              <a:gd name="connsiteY2" fmla="*/ 4761 h 1283125"/>
              <a:gd name="connsiteX3" fmla="*/ 3907422 w 3907422"/>
              <a:gd name="connsiteY3" fmla="*/ 1259606 h 1283125"/>
              <a:gd name="connsiteX4" fmla="*/ 6800 w 3907422"/>
              <a:gd name="connsiteY4" fmla="*/ 1283125 h 128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7422" h="1283125">
                <a:moveTo>
                  <a:pt x="6800" y="1283125"/>
                </a:moveTo>
                <a:cubicBezTo>
                  <a:pt x="4533" y="855417"/>
                  <a:pt x="2267" y="427708"/>
                  <a:pt x="0" y="0"/>
                </a:cubicBezTo>
                <a:lnTo>
                  <a:pt x="3262105" y="4761"/>
                </a:lnTo>
                <a:lnTo>
                  <a:pt x="3907422" y="1259606"/>
                </a:lnTo>
                <a:lnTo>
                  <a:pt x="6800" y="1283125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 flipV="1">
            <a:off x="-22729" y="0"/>
            <a:ext cx="554342" cy="1952427"/>
          </a:xfrm>
          <a:prstGeom prst="parallelogram">
            <a:avLst>
              <a:gd name="adj" fmla="val 56737"/>
            </a:avLst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0BB93D68-9CE6-B472-A788-461B3CDD5B9E}"/>
              </a:ext>
            </a:extLst>
          </p:cNvPr>
          <p:cNvSpPr/>
          <p:nvPr/>
        </p:nvSpPr>
        <p:spPr>
          <a:xfrm flipV="1">
            <a:off x="407183" y="800199"/>
            <a:ext cx="554342" cy="1952427"/>
          </a:xfrm>
          <a:prstGeom prst="parallelogram">
            <a:avLst>
              <a:gd name="adj" fmla="val 5673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CE8990-29C3-B483-E1C3-7A766988DA46}"/>
              </a:ext>
            </a:extLst>
          </p:cNvPr>
          <p:cNvCxnSpPr>
            <a:cxnSpLocks/>
          </p:cNvCxnSpPr>
          <p:nvPr/>
        </p:nvCxnSpPr>
        <p:spPr>
          <a:xfrm>
            <a:off x="3003477" y="1131217"/>
            <a:ext cx="833696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03F4C2-F324-F1F0-44E4-F5094BD8CE12}"/>
              </a:ext>
            </a:extLst>
          </p:cNvPr>
          <p:cNvCxnSpPr/>
          <p:nvPr/>
        </p:nvCxnSpPr>
        <p:spPr>
          <a:xfrm>
            <a:off x="11359296" y="1112363"/>
            <a:ext cx="0" cy="492079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8E064A-A0C9-F074-38CD-1A4B176B7AFA}"/>
              </a:ext>
            </a:extLst>
          </p:cNvPr>
          <p:cNvSpPr txBox="1"/>
          <p:nvPr/>
        </p:nvSpPr>
        <p:spPr>
          <a:xfrm>
            <a:off x="875117" y="1242005"/>
            <a:ext cx="306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E3192"/>
                </a:solidFill>
                <a:latin typeface="Arial Black" panose="020B0A04020102020204" pitchFamily="34" charset="0"/>
              </a:rPr>
              <a:t>Reference</a:t>
            </a:r>
            <a:endParaRPr lang="en-IN" sz="4000" dirty="0">
              <a:solidFill>
                <a:srgbClr val="2E3192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CA5233-9934-B344-DE07-CD6EC676F958}"/>
              </a:ext>
            </a:extLst>
          </p:cNvPr>
          <p:cNvCxnSpPr>
            <a:cxnSpLocks/>
          </p:cNvCxnSpPr>
          <p:nvPr/>
        </p:nvCxnSpPr>
        <p:spPr>
          <a:xfrm>
            <a:off x="952194" y="1880262"/>
            <a:ext cx="2852055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8DB19AA-1823-4AE0-906F-104F037B3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52" y="105246"/>
            <a:ext cx="1219904" cy="114641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7D4BA6C-5120-608A-6ECF-C0E23243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440" y="2305615"/>
            <a:ext cx="95572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HuggingFace</a:t>
            </a:r>
            <a:r>
              <a:rPr lang="en-US" altLang="en-US" sz="2800" dirty="0">
                <a:latin typeface="Arial" panose="020B0604020202020204" pitchFamily="34" charset="0"/>
              </a:rPr>
              <a:t> Transformers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RDKit</a:t>
            </a:r>
            <a:r>
              <a:rPr lang="en-US" altLang="en-US" sz="2800" dirty="0">
                <a:latin typeface="Arial" panose="020B0604020202020204" pitchFamily="34" charset="0"/>
              </a:rPr>
              <a:t> documentation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Py3Dmol visualization library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Research articles on BERT for molecular representations</a:t>
            </a:r>
          </a:p>
          <a:p>
            <a:pPr lvl="0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ZINC Database</a:t>
            </a:r>
          </a:p>
        </p:txBody>
      </p:sp>
    </p:spTree>
    <p:extLst>
      <p:ext uri="{BB962C8B-B14F-4D97-AF65-F5344CB8AC3E}">
        <p14:creationId xmlns:p14="http://schemas.microsoft.com/office/powerpoint/2010/main" val="3591271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23FFBC-B3C1-DA9E-53A5-1F99DFD0736B}"/>
              </a:ext>
            </a:extLst>
          </p:cNvPr>
          <p:cNvSpPr/>
          <p:nvPr/>
        </p:nvSpPr>
        <p:spPr>
          <a:xfrm>
            <a:off x="5972176" y="1131216"/>
            <a:ext cx="5616444" cy="4000621"/>
          </a:xfrm>
          <a:prstGeom prst="rect">
            <a:avLst/>
          </a:prstGeom>
          <a:solidFill>
            <a:srgbClr val="F9F9F9"/>
          </a:solidFill>
          <a:ln w="381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3F5182-EACD-E9BA-495E-E32B68FAA04F}"/>
              </a:ext>
            </a:extLst>
          </p:cNvPr>
          <p:cNvSpPr/>
          <p:nvPr/>
        </p:nvSpPr>
        <p:spPr>
          <a:xfrm>
            <a:off x="0" y="1791477"/>
            <a:ext cx="11000792" cy="262190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FB21F-7096-0E01-A3FA-15AD7182F9A1}"/>
              </a:ext>
            </a:extLst>
          </p:cNvPr>
          <p:cNvSpPr/>
          <p:nvPr/>
        </p:nvSpPr>
        <p:spPr>
          <a:xfrm>
            <a:off x="8382000" y="6564553"/>
            <a:ext cx="3810000" cy="2952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E8FDB2-8F95-5234-EB48-21962CECCF87}"/>
              </a:ext>
            </a:extLst>
          </p:cNvPr>
          <p:cNvSpPr txBox="1"/>
          <p:nvPr/>
        </p:nvSpPr>
        <p:spPr>
          <a:xfrm>
            <a:off x="828674" y="2428222"/>
            <a:ext cx="76344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F9F9F9"/>
                </a:solidFill>
                <a:latin typeface="Arial Black" panose="020B0A04020102020204" pitchFamily="34" charset="0"/>
              </a:rPr>
              <a:t>Thank You</a:t>
            </a:r>
            <a:endParaRPr lang="en-IN" sz="8000" dirty="0">
              <a:solidFill>
                <a:srgbClr val="F9F9F9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D4263-BC76-436A-8C21-E767B88EB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07" y="111947"/>
            <a:ext cx="1663454" cy="156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00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744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Nsftid nsftid</dc:creator>
  <cp:lastModifiedBy>Arjun V</cp:lastModifiedBy>
  <cp:revision>76</cp:revision>
  <dcterms:created xsi:type="dcterms:W3CDTF">2024-01-31T07:08:49Z</dcterms:created>
  <dcterms:modified xsi:type="dcterms:W3CDTF">2025-04-08T07:47:47Z</dcterms:modified>
</cp:coreProperties>
</file>